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B8C7-CA77-1E88-6E58-0955A275D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FB047-D393-92A2-A483-E624190B0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801A-9639-EF3C-F624-5206466F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25C55-0163-59E6-E30C-BE955192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7D605-6C36-B2E3-191D-E974109F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6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74F3D-9C0B-6E24-9851-231356FB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3D86-4422-86C5-51E4-C5527C74F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0B540-3273-B438-05A4-46DAC1AF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4D443-BFDB-C60A-2DE3-2C18E2C9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33A2-C52D-ECB6-15A5-A3614F0A3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A192-6B17-1016-2E80-BA9AB7FE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5C53B-2464-E2B9-94E5-1FCD61F11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F349F-B3AB-CC47-8BA4-8A2DD217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3BC58-0915-8DB5-606D-66C7418B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EDDB1-6997-07E2-E5D9-D5D5BEEE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A580-A330-587E-0574-F8988BF8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0DD8-6B0F-6F0A-9A17-9E392AF91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75793-B9D9-048D-B10A-A3C492EA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AE881-F3A5-2C9D-C113-E72E8529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554C0-318E-B748-54E5-B2CAC7546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1C9F0-2B67-0D10-2093-2F6D588C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9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4BB7-0074-9E2A-4336-504D4E226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09833-72A2-A339-8A4F-CB90302F6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93995-8BE1-9265-DA44-9D6FA9C14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81329-C26E-EF1F-CEC3-7845203BE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8DD9E-8022-9BB5-CC2D-FE3AEA653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D4086-45A9-B528-36D0-E7B1842BC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4F27D-9D6D-83EF-8518-A890676D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50D85-FFA9-4301-184D-58DA1E99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3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5066-635A-22F3-D03A-765895EF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03EC0-3CAD-14A3-72BF-19CBC51B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71AA2-9ABB-EC7C-1A26-1782831C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0D6B0-2AAC-A07F-609A-0617D1AF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F778C0-2783-C91B-8438-598F52F3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66FC4-DD2A-0D1B-2901-9E7387392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8714C-CDA1-8967-7B22-3EEB3507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3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C02A-1A3F-1F60-8189-41472FAB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9764-2E41-BCEE-0B19-6D0C3FF5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25513-D99F-3613-72B6-DDD57B56E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0F72B-A97A-8001-EEB0-EE01A93F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FDF06-D939-8250-D680-4CF697B1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46443-470C-549C-0456-6D7AB803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1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E443-AF71-CB5F-4D72-67FD9512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5800EC-B9F1-7EE6-DF7E-6F67B158B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B7CDF-5AB1-FAA3-AB95-3C929E15C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4494-41F3-0A48-65F9-C8C4D8C1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1E4E7-D773-B9E4-AC70-D02E6550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2FBEE-B19B-FCAE-C1CA-AC29DFC7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9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324C-F9D8-5FBF-CB87-B79D1284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1B232-31AD-2326-6BFD-680C68DAF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6375-1A43-0DAC-744C-9FD06F48D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9D8B4-D83E-BC9F-B483-1537CAB7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13E02-8CB0-A4C4-4941-ABFF5EC73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3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251AB-0031-6F67-D7A8-5EF3CBB719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B603A-1E8E-D31A-1983-9A373490F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353BA-AFE2-7C93-EDA9-51290C57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F008B-43E8-A92C-5A5A-FD2F6FD6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73E78-036D-93A4-4FAD-4F17ECA7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0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B80B68-ACA4-822A-775E-FA79622A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75A35-C8B6-E3C7-7E44-65B710127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486C3-726C-ADC0-9077-A8738AD7D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33353-D138-491B-8C60-B0E61242716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C294-68D1-8173-7B29-E656F1E1E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A4346-70B6-7B1D-672F-CACD1D8F9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739D3-D6B5-4FAE-B34D-9D96C20E9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17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38E6-E81D-4B0E-9D75-A86F07C05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860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CREDITGUARD</a:t>
            </a:r>
            <a:br>
              <a:rPr lang="en-US" dirty="0"/>
            </a:br>
            <a:r>
              <a:rPr lang="en-US" sz="2200" b="1" dirty="0"/>
              <a:t>(</a:t>
            </a:r>
            <a:r>
              <a:rPr lang="en-US" sz="2200" b="1" dirty="0" err="1"/>
              <a:t>CreditGuard</a:t>
            </a:r>
            <a:r>
              <a:rPr lang="en-US" sz="2200" b="1" dirty="0"/>
              <a:t> is an AI-powered credit card risk analysis system that predicts customer default risk using machine learning and advanced data analytics.)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8CE7E-51A0-9688-B082-1848290E3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58" y="845574"/>
            <a:ext cx="10225548" cy="49161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347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1B80D-6E7B-EAAE-84CF-316E17B44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6" y="204248"/>
            <a:ext cx="5771872" cy="39646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D3ACA-862B-36EB-8524-6668BC091A43}"/>
              </a:ext>
            </a:extLst>
          </p:cNvPr>
          <p:cNvSpPr txBox="1"/>
          <p:nvPr/>
        </p:nvSpPr>
        <p:spPr>
          <a:xfrm>
            <a:off x="6459794" y="204248"/>
            <a:ext cx="559489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CREDIT_RISK</a:t>
            </a:r>
            <a:r>
              <a:rPr lang="en-US" dirty="0"/>
              <a:t> variable is </a:t>
            </a:r>
            <a:r>
              <a:rPr lang="en-US" b="1" dirty="0"/>
              <a:t>highly imbalanced</a:t>
            </a:r>
            <a:r>
              <a:rPr lang="en-US" dirty="0"/>
              <a:t>, with a significant majority of customers classified as </a:t>
            </a:r>
            <a:r>
              <a:rPr lang="en-US" b="1" dirty="0"/>
              <a:t>Good Credit (0)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Out of </a:t>
            </a:r>
            <a:r>
              <a:rPr lang="en-US" b="1" dirty="0"/>
              <a:t>36,457</a:t>
            </a:r>
            <a:r>
              <a:rPr lang="en-US" dirty="0"/>
              <a:t> customers, </a:t>
            </a:r>
            <a:r>
              <a:rPr lang="en-US" b="1" dirty="0"/>
              <a:t>36,351 (99.71%)</a:t>
            </a:r>
            <a:r>
              <a:rPr lang="en-US" dirty="0"/>
              <a:t> are classified as </a:t>
            </a:r>
            <a:r>
              <a:rPr lang="en-US" b="1" dirty="0"/>
              <a:t>Good Credit</a:t>
            </a:r>
            <a:r>
              <a:rPr lang="en-US" dirty="0"/>
              <a:t>, while only </a:t>
            </a:r>
            <a:r>
              <a:rPr lang="en-US" b="1" dirty="0"/>
              <a:t>106 (0.29%)</a:t>
            </a:r>
            <a:r>
              <a:rPr lang="en-US" dirty="0"/>
              <a:t> are classified as </a:t>
            </a:r>
            <a:r>
              <a:rPr lang="en-US" b="1" dirty="0"/>
              <a:t>Bad Credit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extremely small number of bad credit cases indicates that </a:t>
            </a:r>
            <a:r>
              <a:rPr lang="en-US" b="1" dirty="0"/>
              <a:t>defaults are rare</a:t>
            </a:r>
            <a:r>
              <a:rPr lang="en-US" dirty="0"/>
              <a:t> in this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This class imbalance may lead to </a:t>
            </a:r>
            <a:r>
              <a:rPr lang="en-US" b="1" dirty="0"/>
              <a:t>biased machine learning models</a:t>
            </a:r>
            <a:r>
              <a:rPr lang="en-US" dirty="0"/>
              <a:t>, as models can become biased toward predicting the majority class.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Special techniques such as </a:t>
            </a:r>
            <a:r>
              <a:rPr lang="en-US" b="1" dirty="0"/>
              <a:t>SMOTE, oversampling, </a:t>
            </a:r>
            <a:r>
              <a:rPr lang="en-US" b="1" dirty="0" err="1"/>
              <a:t>undersampling</a:t>
            </a:r>
            <a:r>
              <a:rPr lang="en-US" b="1" dirty="0"/>
              <a:t>, or class weighting</a:t>
            </a:r>
            <a:r>
              <a:rPr lang="en-US" dirty="0"/>
              <a:t> may be required during model training to handle the imbalance.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Evaluation metrics such as </a:t>
            </a:r>
            <a:r>
              <a:rPr lang="en-US" b="1" dirty="0"/>
              <a:t>Precision, Recall, F1-score, and ROC-AUC</a:t>
            </a:r>
            <a:r>
              <a:rPr lang="en-US" dirty="0"/>
              <a:t> should be preferred over accuracy alone when assessing model performance on this dataset.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01305-25A6-EE39-166C-D626720B90A8}"/>
              </a:ext>
            </a:extLst>
          </p:cNvPr>
          <p:cNvSpPr txBox="1"/>
          <p:nvPr/>
        </p:nvSpPr>
        <p:spPr>
          <a:xfrm>
            <a:off x="137316" y="4375355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1. Distribution of Credit Risk</a:t>
            </a:r>
          </a:p>
        </p:txBody>
      </p:sp>
    </p:spTree>
    <p:extLst>
      <p:ext uri="{BB962C8B-B14F-4D97-AF65-F5344CB8AC3E}">
        <p14:creationId xmlns:p14="http://schemas.microsoft.com/office/powerpoint/2010/main" val="377726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42067-23DF-6E1F-1D54-62E6295C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163BA4-C6A5-7F1B-604F-7E82E506D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135" y="204248"/>
            <a:ext cx="5732207" cy="45250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A067-5D77-8038-CFA9-1BDA26227E20}"/>
              </a:ext>
            </a:extLst>
          </p:cNvPr>
          <p:cNvSpPr txBox="1"/>
          <p:nvPr/>
        </p:nvSpPr>
        <p:spPr>
          <a:xfrm>
            <a:off x="137316" y="4827638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2. Status category occurs most frequently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AB86D-1CB4-73E0-7667-A96754D4D402}"/>
              </a:ext>
            </a:extLst>
          </p:cNvPr>
          <p:cNvSpPr txBox="1"/>
          <p:nvPr/>
        </p:nvSpPr>
        <p:spPr>
          <a:xfrm>
            <a:off x="6558454" y="204248"/>
            <a:ext cx="549623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most common repayment status is </a:t>
            </a:r>
            <a:r>
              <a:rPr lang="en-US" b="1" dirty="0"/>
              <a:t>C (Loan Closed)</a:t>
            </a:r>
            <a:r>
              <a:rPr lang="en-US" dirty="0"/>
              <a:t> with </a:t>
            </a:r>
            <a:r>
              <a:rPr lang="en-US" b="1" dirty="0"/>
              <a:t>17,950 customers (49.24%)</a:t>
            </a:r>
            <a:r>
              <a:rPr lang="en-US" dirty="0"/>
              <a:t>, followed by </a:t>
            </a:r>
            <a:r>
              <a:rPr lang="en-US" b="1" dirty="0"/>
              <a:t>X (No Loan Activity)</a:t>
            </a:r>
            <a:r>
              <a:rPr lang="en-US" dirty="0"/>
              <a:t> with </a:t>
            </a:r>
            <a:r>
              <a:rPr lang="en-US" b="1" dirty="0"/>
              <a:t>9,669 customers (26.52%)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8,456 customers (23.19%)</a:t>
            </a:r>
            <a:r>
              <a:rPr lang="en-US" dirty="0"/>
              <a:t> have a status of </a:t>
            </a:r>
            <a:r>
              <a:rPr lang="en-US" b="1" dirty="0"/>
              <a:t>0 (Paid on Time)</a:t>
            </a:r>
            <a:r>
              <a:rPr lang="en-US" dirty="0"/>
              <a:t>, indicating regular and timely repayments.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382 customers (1.05%)</a:t>
            </a:r>
            <a:r>
              <a:rPr lang="en-US" dirty="0"/>
              <a:t> fall into the late payment or default categories (1–5), showing that delinquent repayments are uncommon.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low frequency of severe delinquency (2–5) suggests that </a:t>
            </a:r>
            <a:r>
              <a:rPr lang="en-US" b="1" dirty="0"/>
              <a:t>most customers have a stable repayment history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dominance of </a:t>
            </a:r>
            <a:r>
              <a:rPr lang="en-US" b="1" dirty="0"/>
              <a:t>C</a:t>
            </a:r>
            <a:r>
              <a:rPr lang="en-US" dirty="0"/>
              <a:t>, </a:t>
            </a:r>
            <a:r>
              <a:rPr lang="en-US" b="1" dirty="0"/>
              <a:t>X</a:t>
            </a:r>
            <a:r>
              <a:rPr lang="en-US" dirty="0"/>
              <a:t>, and </a:t>
            </a:r>
            <a:r>
              <a:rPr lang="en-US" b="1" dirty="0"/>
              <a:t>0</a:t>
            </a:r>
            <a:r>
              <a:rPr lang="en-US" dirty="0"/>
              <a:t> indicates that the dataset consists primarily of customers with </a:t>
            </a:r>
            <a:r>
              <a:rPr lang="en-US" b="1" dirty="0"/>
              <a:t>low credit risk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scarcity of late payment statuses further supports the </a:t>
            </a:r>
            <a:r>
              <a:rPr lang="en-US" b="1" dirty="0"/>
              <a:t>highly imbalanced distribution of the target variable (CREDIT_RISK)</a:t>
            </a:r>
            <a:r>
              <a:rPr lang="en-US" dirty="0"/>
              <a:t>, where bad credit cases are very rare.</a:t>
            </a:r>
          </a:p>
        </p:txBody>
      </p:sp>
    </p:spTree>
    <p:extLst>
      <p:ext uri="{BB962C8B-B14F-4D97-AF65-F5344CB8AC3E}">
        <p14:creationId xmlns:p14="http://schemas.microsoft.com/office/powerpoint/2010/main" val="248009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6801-1458-6345-2DD8-AC31EE3F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BC9C6A-311D-D349-BBDB-9F09DF58C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978" y="204248"/>
            <a:ext cx="6338937" cy="45250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E7B0D-7580-E050-5264-C6100CE6F296}"/>
              </a:ext>
            </a:extLst>
          </p:cNvPr>
          <p:cNvSpPr txBox="1"/>
          <p:nvPr/>
        </p:nvSpPr>
        <p:spPr>
          <a:xfrm>
            <a:off x="753433" y="4817806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3. Distribution of Family Member 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2765D-651A-6623-4820-B12A65558E8C}"/>
              </a:ext>
            </a:extLst>
          </p:cNvPr>
          <p:cNvSpPr txBox="1"/>
          <p:nvPr/>
        </p:nvSpPr>
        <p:spPr>
          <a:xfrm>
            <a:off x="7177548" y="204248"/>
            <a:ext cx="49357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majority of customers have </a:t>
            </a:r>
            <a:r>
              <a:rPr lang="en-US" b="1" dirty="0"/>
              <a:t>2 family members (19,463; 53.39%)</a:t>
            </a:r>
            <a:r>
              <a:rPr lang="en-US" dirty="0"/>
              <a:t>, making it the most common family size.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1</a:t>
            </a:r>
            <a:r>
              <a:rPr lang="en-US" dirty="0"/>
              <a:t> and </a:t>
            </a:r>
            <a:r>
              <a:rPr lang="en-US" b="1" dirty="0"/>
              <a:t>3 family members</a:t>
            </a:r>
            <a:r>
              <a:rPr lang="en-US" dirty="0"/>
              <a:t> are the next largest groups, indicating that </a:t>
            </a:r>
            <a:r>
              <a:rPr lang="en-US" b="1" dirty="0"/>
              <a:t>small families dominate the dataset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Family sizes of </a:t>
            </a:r>
            <a:r>
              <a:rPr lang="en-US" b="1" dirty="0"/>
              <a:t>4 or 5 members</a:t>
            </a:r>
            <a:r>
              <a:rPr lang="en-US" dirty="0"/>
              <a:t> are less common but still reasonably represented.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Very few customers have </a:t>
            </a:r>
            <a:r>
              <a:rPr lang="en-US" b="1" dirty="0"/>
              <a:t>more than 5 family members</a:t>
            </a:r>
            <a:r>
              <a:rPr lang="en-US" dirty="0"/>
              <a:t>, suggesting that large families are rare.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 handful of records with </a:t>
            </a:r>
            <a:r>
              <a:rPr lang="en-US" b="1" dirty="0"/>
              <a:t>9, 15, and 20 family members</a:t>
            </a:r>
            <a:r>
              <a:rPr lang="en-US" dirty="0"/>
              <a:t> may represent </a:t>
            </a:r>
            <a:r>
              <a:rPr lang="en-US" b="1" dirty="0"/>
              <a:t>extreme values or potential outliers</a:t>
            </a:r>
            <a:r>
              <a:rPr lang="en-US" dirty="0"/>
              <a:t> that warrant further investigation.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Overall, the distribution indicates that </a:t>
            </a:r>
            <a:r>
              <a:rPr lang="en-US" b="1" dirty="0"/>
              <a:t>most customers belong to small or medium-sized households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4510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4FBD-1008-65FD-A0C0-F4C16D57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23649-9AA7-7C2A-4D44-7321B60F0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978" y="216310"/>
            <a:ext cx="11166577" cy="46014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E43783-C823-483C-99E9-4FB0A2EE473F}"/>
              </a:ext>
            </a:extLst>
          </p:cNvPr>
          <p:cNvSpPr txBox="1"/>
          <p:nvPr/>
        </p:nvSpPr>
        <p:spPr>
          <a:xfrm>
            <a:off x="3167253" y="5034116"/>
            <a:ext cx="5880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4. Value counts of </a:t>
            </a:r>
            <a:r>
              <a:rPr lang="en-US" b="1" dirty="0" err="1"/>
              <a:t>Gender,Owning</a:t>
            </a:r>
            <a:r>
              <a:rPr lang="en-US" b="1" dirty="0"/>
              <a:t> </a:t>
            </a:r>
            <a:r>
              <a:rPr lang="en-US" b="1" dirty="0" err="1"/>
              <a:t>car,Owning</a:t>
            </a:r>
            <a:r>
              <a:rPr lang="en-US" b="1" dirty="0"/>
              <a:t> real estate</a:t>
            </a:r>
          </a:p>
        </p:txBody>
      </p:sp>
    </p:spTree>
    <p:extLst>
      <p:ext uri="{BB962C8B-B14F-4D97-AF65-F5344CB8AC3E}">
        <p14:creationId xmlns:p14="http://schemas.microsoft.com/office/powerpoint/2010/main" val="94775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7FD98A-82BC-997D-6B2D-C0664D8F5247}"/>
              </a:ext>
            </a:extLst>
          </p:cNvPr>
          <p:cNvSpPr txBox="1"/>
          <p:nvPr/>
        </p:nvSpPr>
        <p:spPr>
          <a:xfrm>
            <a:off x="353960" y="648191"/>
            <a:ext cx="116315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dataset contains </a:t>
            </a:r>
            <a:r>
              <a:rPr lang="en-US" sz="2400" b="1" dirty="0"/>
              <a:t>more female customers than male customers</a:t>
            </a:r>
            <a:r>
              <a:rPr lang="en-US" sz="2400" dirty="0"/>
              <a:t>, indicating that females constitute the majority of applicants.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 larger proportion of customers </a:t>
            </a:r>
            <a:r>
              <a:rPr lang="en-US" sz="2400" b="1" dirty="0"/>
              <a:t>do not own a car (N)</a:t>
            </a:r>
            <a:r>
              <a:rPr lang="en-US" sz="2400" dirty="0"/>
              <a:t> compared to those who own a car (Y).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Most customers </a:t>
            </a:r>
            <a:r>
              <a:rPr lang="en-US" sz="2400" b="1" dirty="0"/>
              <a:t>own a house or property (Y)</a:t>
            </a:r>
            <a:r>
              <a:rPr lang="en-US" sz="2400" dirty="0"/>
              <a:t>, suggesting that property ownership is common among the applicants.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higher percentage of property owners may indicate </a:t>
            </a:r>
            <a:r>
              <a:rPr lang="en-US" sz="2400" b="1" dirty="0"/>
              <a:t>greater financial stability</a:t>
            </a:r>
            <a:r>
              <a:rPr lang="en-US" sz="2400" dirty="0"/>
              <a:t>, which could positively influence creditworthiness.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Although car ownership is less common, </a:t>
            </a:r>
            <a:r>
              <a:rPr lang="en-US" sz="2400" b="1" dirty="0"/>
              <a:t>property ownership is significantly higher</a:t>
            </a:r>
            <a:r>
              <a:rPr lang="en-US" sz="2400" dirty="0"/>
              <a:t>, indicating that owning real estate is more prevalent than owning a car.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demographic and asset ownership characteristics can be useful features for analyzing customer profiles and their relationship with </a:t>
            </a:r>
            <a:r>
              <a:rPr lang="en-US" sz="2400" b="1" dirty="0"/>
              <a:t>credit risk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899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70776-5C53-A1C2-EE9F-23B4112D3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55" y="331452"/>
            <a:ext cx="11212490" cy="4181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5A5BC-5C65-BEB1-3FCC-F8C2942CF039}"/>
              </a:ext>
            </a:extLst>
          </p:cNvPr>
          <p:cNvSpPr txBox="1"/>
          <p:nvPr/>
        </p:nvSpPr>
        <p:spPr>
          <a:xfrm>
            <a:off x="3167253" y="5034116"/>
            <a:ext cx="5880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5. Value counts of Income type, Education type, Family Status</a:t>
            </a:r>
          </a:p>
        </p:txBody>
      </p:sp>
    </p:spTree>
    <p:extLst>
      <p:ext uri="{BB962C8B-B14F-4D97-AF65-F5344CB8AC3E}">
        <p14:creationId xmlns:p14="http://schemas.microsoft.com/office/powerpoint/2010/main" val="141326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2A566-11C5-021D-51BC-AFFA644382B3}"/>
              </a:ext>
            </a:extLst>
          </p:cNvPr>
          <p:cNvSpPr txBox="1"/>
          <p:nvPr/>
        </p:nvSpPr>
        <p:spPr>
          <a:xfrm>
            <a:off x="275303" y="753802"/>
            <a:ext cx="116610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majority of customers are </a:t>
            </a:r>
            <a:r>
              <a:rPr lang="en-US" sz="2400" b="1" dirty="0"/>
              <a:t>Working</a:t>
            </a:r>
            <a:r>
              <a:rPr lang="en-US" sz="2400" dirty="0"/>
              <a:t>, followed by </a:t>
            </a:r>
            <a:r>
              <a:rPr lang="en-US" sz="2400" b="1" dirty="0"/>
              <a:t>Commercial Associates</a:t>
            </a:r>
            <a:r>
              <a:rPr lang="en-US" sz="2400" dirty="0"/>
              <a:t> and </a:t>
            </a:r>
            <a:r>
              <a:rPr lang="en-US" sz="2400" b="1" dirty="0"/>
              <a:t>Pensioners</a:t>
            </a:r>
            <a:r>
              <a:rPr lang="en-US" sz="2400" dirty="0"/>
              <a:t>, while </a:t>
            </a:r>
            <a:r>
              <a:rPr lang="en-US" sz="2400" b="1" dirty="0"/>
              <a:t>Students</a:t>
            </a:r>
            <a:r>
              <a:rPr lang="en-US" sz="2400" dirty="0"/>
              <a:t> represent only a negligible proportion of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Most customers have </a:t>
            </a:r>
            <a:r>
              <a:rPr lang="en-US" sz="2400" b="1" dirty="0"/>
              <a:t>Secondary/Special Secondary Education</a:t>
            </a:r>
            <a:r>
              <a:rPr lang="en-US" sz="2400" dirty="0"/>
              <a:t>, followed by </a:t>
            </a:r>
            <a:r>
              <a:rPr lang="en-US" sz="2400" b="1" dirty="0"/>
              <a:t>Higher Education</a:t>
            </a:r>
            <a:r>
              <a:rPr lang="en-US" sz="2400" dirty="0"/>
              <a:t>, indicating that the dataset primarily consists of customers with basic to intermediate educational qualifications.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Customers with </a:t>
            </a:r>
            <a:r>
              <a:rPr lang="en-US" sz="2400" b="1" dirty="0"/>
              <a:t>Academic Degrees</a:t>
            </a:r>
            <a:r>
              <a:rPr lang="en-US" sz="2400" dirty="0"/>
              <a:t> and </a:t>
            </a:r>
            <a:r>
              <a:rPr lang="en-US" sz="2400" b="1" dirty="0"/>
              <a:t>Lower Secondary Education</a:t>
            </a:r>
            <a:r>
              <a:rPr lang="en-US" sz="2400" dirty="0"/>
              <a:t> are very few compared to other education levels.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majority of customers are </a:t>
            </a:r>
            <a:r>
              <a:rPr lang="en-US" sz="2400" b="1" dirty="0"/>
              <a:t>Married</a:t>
            </a:r>
            <a:r>
              <a:rPr lang="en-US" sz="2400" dirty="0"/>
              <a:t>, making it the most common family status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Single</a:t>
            </a:r>
            <a:r>
              <a:rPr lang="en-US" sz="2400" dirty="0"/>
              <a:t> customers form the second-largest group, followed by </a:t>
            </a:r>
            <a:r>
              <a:rPr lang="en-US" sz="2400" b="1" dirty="0"/>
              <a:t>Civil Marriage</a:t>
            </a:r>
            <a:r>
              <a:rPr lang="en-US" sz="2400" dirty="0"/>
              <a:t>, </a:t>
            </a:r>
            <a:r>
              <a:rPr lang="en-US" sz="2400" b="1" dirty="0"/>
              <a:t>Separated</a:t>
            </a:r>
            <a:r>
              <a:rPr lang="en-US" sz="2400" dirty="0"/>
              <a:t>, and </a:t>
            </a:r>
            <a:r>
              <a:rPr lang="en-US" sz="2400" b="1" dirty="0"/>
              <a:t>Widow</a:t>
            </a:r>
            <a:r>
              <a:rPr lang="en-US" sz="2400" dirty="0"/>
              <a:t> 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distributions suggest that the typical customer profile is a </a:t>
            </a:r>
            <a:r>
              <a:rPr lang="en-US" sz="2400" b="1" dirty="0"/>
              <a:t>working, married individual with secondary-level education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These demographic characteristics may influence customers' financial behavior and can be valuable predictors in </a:t>
            </a:r>
            <a:r>
              <a:rPr lang="en-US" sz="2400" b="1" dirty="0"/>
              <a:t>credit risk analysis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8362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29F5E-665D-A62A-8442-9EED06AE4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3" y="409153"/>
            <a:ext cx="10917174" cy="38285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677F2C-BC36-8540-C459-F89D3B2872EC}"/>
              </a:ext>
            </a:extLst>
          </p:cNvPr>
          <p:cNvSpPr txBox="1"/>
          <p:nvPr/>
        </p:nvSpPr>
        <p:spPr>
          <a:xfrm>
            <a:off x="3324570" y="4571999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6. Value counts of Housing </a:t>
            </a:r>
            <a:r>
              <a:rPr lang="en-US" b="1" dirty="0" err="1"/>
              <a:t>type,Occupation</a:t>
            </a:r>
            <a:r>
              <a:rPr lang="en-US" b="1" dirty="0"/>
              <a:t> type, Status</a:t>
            </a:r>
          </a:p>
        </p:txBody>
      </p:sp>
    </p:spTree>
    <p:extLst>
      <p:ext uri="{BB962C8B-B14F-4D97-AF65-F5344CB8AC3E}">
        <p14:creationId xmlns:p14="http://schemas.microsoft.com/office/powerpoint/2010/main" val="1518097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4B383A-7029-A07C-C8CF-D128FE6CE937}"/>
              </a:ext>
            </a:extLst>
          </p:cNvPr>
          <p:cNvSpPr txBox="1"/>
          <p:nvPr/>
        </p:nvSpPr>
        <p:spPr>
          <a:xfrm>
            <a:off x="304799" y="476803"/>
            <a:ext cx="1170038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majority of customers </a:t>
            </a:r>
            <a:r>
              <a:rPr lang="en-US" sz="2400" b="1" dirty="0"/>
              <a:t>live in their own house</a:t>
            </a:r>
            <a:r>
              <a:rPr lang="en-US" sz="2400" dirty="0"/>
              <a:t>, while very few reside in rented apartments, office apartments, or co-op apartments.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 small proportion of customers </a:t>
            </a:r>
            <a:r>
              <a:rPr lang="en-US" sz="2400" b="1" dirty="0"/>
              <a:t>live with their parents</a:t>
            </a:r>
            <a:r>
              <a:rPr lang="en-US" sz="2400" dirty="0"/>
              <a:t> or in </a:t>
            </a:r>
            <a:r>
              <a:rPr lang="en-US" sz="2400" b="1" dirty="0"/>
              <a:t>municipal apartments</a:t>
            </a:r>
            <a:r>
              <a:rPr lang="en-US" sz="2400" dirty="0"/>
              <a:t>, indicating that independent home ownership is common.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Unknown</a:t>
            </a:r>
            <a:r>
              <a:rPr lang="en-US" sz="2400" dirty="0"/>
              <a:t> occupation category has the highest number of customers, followed by </a:t>
            </a:r>
            <a:r>
              <a:rPr lang="en-US" sz="2400" b="1" dirty="0"/>
              <a:t>Laborers</a:t>
            </a:r>
            <a:r>
              <a:rPr lang="en-US" sz="2400" dirty="0"/>
              <a:t>, </a:t>
            </a:r>
            <a:r>
              <a:rPr lang="en-US" sz="2400" b="1" dirty="0"/>
              <a:t>Core Staff</a:t>
            </a:r>
            <a:r>
              <a:rPr lang="en-US" sz="2400" dirty="0"/>
              <a:t>, and </a:t>
            </a:r>
            <a:r>
              <a:rPr lang="en-US" sz="2400" b="1" dirty="0"/>
              <a:t>Sales Staff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Occupations such as </a:t>
            </a:r>
            <a:r>
              <a:rPr lang="en-US" sz="2400" b="1" dirty="0"/>
              <a:t>HR Staff, IT Staff, Secretaries, Realty Agents,</a:t>
            </a:r>
            <a:r>
              <a:rPr lang="en-US" sz="2400" dirty="0"/>
              <a:t> and </a:t>
            </a:r>
            <a:r>
              <a:rPr lang="en-US" sz="2400" b="1" dirty="0"/>
              <a:t>Waiters</a:t>
            </a:r>
            <a:r>
              <a:rPr lang="en-US" sz="2400" dirty="0"/>
              <a:t> have relatively few customers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C (Loan Closed)</a:t>
            </a:r>
            <a:r>
              <a:rPr lang="en-US" sz="2400" dirty="0"/>
              <a:t> status is the most frequent repayment status, followed by </a:t>
            </a:r>
            <a:r>
              <a:rPr lang="en-US" sz="2400" b="1" dirty="0"/>
              <a:t>X (No Loan Activity)</a:t>
            </a:r>
            <a:r>
              <a:rPr lang="en-US" sz="2400" dirty="0"/>
              <a:t> and </a:t>
            </a:r>
            <a:r>
              <a:rPr lang="en-US" sz="2400" b="1" dirty="0"/>
              <a:t>0 (Paid on Time)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Very few customers fall into the </a:t>
            </a:r>
            <a:r>
              <a:rPr lang="en-US" sz="2400" b="1" dirty="0"/>
              <a:t>late payment or default categories (1–5)</a:t>
            </a:r>
            <a:r>
              <a:rPr lang="en-US" sz="2400" dirty="0"/>
              <a:t>, indicating that serious repayment issues are uncommon.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the dataset consists mainly of </a:t>
            </a:r>
            <a:r>
              <a:rPr lang="en-US" sz="2400" b="1" dirty="0"/>
              <a:t>homeowners with stable repayment histories</a:t>
            </a:r>
            <a:r>
              <a:rPr lang="en-US" sz="2400" dirty="0"/>
              <a:t>, while severe credit delinquency is observed only in a small fraction of customers. </a:t>
            </a:r>
          </a:p>
        </p:txBody>
      </p:sp>
    </p:spTree>
    <p:extLst>
      <p:ext uri="{BB962C8B-B14F-4D97-AF65-F5344CB8AC3E}">
        <p14:creationId xmlns:p14="http://schemas.microsoft.com/office/powerpoint/2010/main" val="275518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215435-41F4-22CA-65A2-FA1482F7B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3" y="301391"/>
            <a:ext cx="6263396" cy="40346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93C762-A2A4-6715-7F34-893B7177F26E}"/>
              </a:ext>
            </a:extLst>
          </p:cNvPr>
          <p:cNvSpPr txBox="1"/>
          <p:nvPr/>
        </p:nvSpPr>
        <p:spPr>
          <a:xfrm>
            <a:off x="407748" y="4571999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7. Annual Income VS Credit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EF69A-6C4C-B788-5E67-733AB0928EEF}"/>
              </a:ext>
            </a:extLst>
          </p:cNvPr>
          <p:cNvSpPr txBox="1"/>
          <p:nvPr/>
        </p:nvSpPr>
        <p:spPr>
          <a:xfrm>
            <a:off x="6892412" y="232350"/>
            <a:ext cx="52995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median annual income of </a:t>
            </a:r>
            <a:r>
              <a:rPr lang="en-US" b="1" dirty="0"/>
              <a:t>bad credit customers (1)</a:t>
            </a:r>
            <a:r>
              <a:rPr lang="en-US" dirty="0"/>
              <a:t> is </a:t>
            </a:r>
            <a:r>
              <a:rPr lang="en-US" b="1" dirty="0"/>
              <a:t>slightly higher</a:t>
            </a:r>
            <a:r>
              <a:rPr lang="en-US" dirty="0"/>
              <a:t> than that of </a:t>
            </a:r>
            <a:r>
              <a:rPr lang="en-US" b="1" dirty="0"/>
              <a:t>good credit customers (0)</a:t>
            </a:r>
            <a:r>
              <a:rPr lang="en-US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annual income distributions of both groups </a:t>
            </a:r>
            <a:r>
              <a:rPr lang="en-US" b="1" dirty="0"/>
              <a:t>overlap considerably</a:t>
            </a:r>
            <a:r>
              <a:rPr lang="en-US" dirty="0"/>
              <a:t>, suggesting that income alone does not clearly distinguish credit risk.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good credit group (0)</a:t>
            </a:r>
            <a:r>
              <a:rPr lang="en-US" dirty="0"/>
              <a:t> contains a large number of </a:t>
            </a:r>
            <a:r>
              <a:rPr lang="en-US" b="1" dirty="0"/>
              <a:t>high-income outliers</a:t>
            </a:r>
            <a:r>
              <a:rPr lang="en-US" dirty="0"/>
              <a:t>, indicating greater variability in income.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bad credit group (1)</a:t>
            </a:r>
            <a:r>
              <a:rPr lang="en-US" dirty="0"/>
              <a:t> has relatively </a:t>
            </a:r>
            <a:r>
              <a:rPr lang="en-US" b="1" dirty="0"/>
              <a:t>fewer outliers</a:t>
            </a:r>
            <a:r>
              <a:rPr lang="en-US" dirty="0"/>
              <a:t>, likely due to the small number of bad credit customers in the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Most customers in both credit risk groups have </a:t>
            </a:r>
            <a:r>
              <a:rPr lang="en-US" b="1" dirty="0"/>
              <a:t>annual incomes within a similar range</a:t>
            </a:r>
            <a:r>
              <a:rPr lang="en-US" dirty="0"/>
              <a:t>, with only a few earning exceptionally high incomes.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Overall, </a:t>
            </a:r>
            <a:r>
              <a:rPr lang="en-US" b="1" dirty="0"/>
              <a:t>annual income does not appear to have a strong relationship with credit risk</a:t>
            </a:r>
            <a:r>
              <a:rPr lang="en-US" dirty="0"/>
              <a:t> in this dataset, as both groups exhibit comparable income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3407969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0E51-0626-3423-44FC-3B273B25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6E07C-34D6-73B0-2E05-4DBD2BC1C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851" y="589083"/>
            <a:ext cx="11720298" cy="46220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BA574-1E02-6604-2BCA-DD25E6687FCF}"/>
              </a:ext>
            </a:extLst>
          </p:cNvPr>
          <p:cNvSpPr txBox="1"/>
          <p:nvPr/>
        </p:nvSpPr>
        <p:spPr>
          <a:xfrm>
            <a:off x="3155987" y="5348747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8. Credit Risk Percentage by Occupation</a:t>
            </a:r>
          </a:p>
        </p:txBody>
      </p:sp>
    </p:spTree>
    <p:extLst>
      <p:ext uri="{BB962C8B-B14F-4D97-AF65-F5344CB8AC3E}">
        <p14:creationId xmlns:p14="http://schemas.microsoft.com/office/powerpoint/2010/main" val="122399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F1042-3CE7-947E-58E5-C54488082F9C}"/>
              </a:ext>
            </a:extLst>
          </p:cNvPr>
          <p:cNvSpPr txBox="1"/>
          <p:nvPr/>
        </p:nvSpPr>
        <p:spPr>
          <a:xfrm>
            <a:off x="167147" y="753802"/>
            <a:ext cx="118380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Across all occupation types, </a:t>
            </a:r>
            <a:r>
              <a:rPr lang="en-US" sz="2400" b="1" dirty="0"/>
              <a:t>more than 98% of customers have good credit (Credit Risk = 0)</a:t>
            </a:r>
            <a:r>
              <a:rPr lang="en-US" sz="2400" dirty="0"/>
              <a:t>, indicating a generally low default rate.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Secretaries (1.32%)</a:t>
            </a:r>
            <a:r>
              <a:rPr lang="en-US" sz="2400" dirty="0"/>
              <a:t>, </a:t>
            </a:r>
            <a:r>
              <a:rPr lang="en-US" sz="2400" b="1" dirty="0"/>
              <a:t>Low-skill Laborers (1.14%)</a:t>
            </a:r>
            <a:r>
              <a:rPr lang="en-US" sz="2400" dirty="0"/>
              <a:t>, and </a:t>
            </a:r>
            <a:r>
              <a:rPr lang="en-US" sz="2400" b="1" dirty="0"/>
              <a:t>Security Staff (1.01%)</a:t>
            </a:r>
            <a:r>
              <a:rPr lang="en-US" sz="2400" dirty="0"/>
              <a:t> have the highest proportions of bad credit customers among all occupations.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Occupations such as </a:t>
            </a:r>
            <a:r>
              <a:rPr lang="en-US" sz="2400" b="1" dirty="0"/>
              <a:t>Accountants</a:t>
            </a:r>
            <a:r>
              <a:rPr lang="en-US" sz="2400" dirty="0"/>
              <a:t>, </a:t>
            </a:r>
            <a:r>
              <a:rPr lang="en-US" sz="2400" b="1" dirty="0"/>
              <a:t>HR Staff</a:t>
            </a:r>
            <a:r>
              <a:rPr lang="en-US" sz="2400" dirty="0"/>
              <a:t>, and </a:t>
            </a:r>
            <a:r>
              <a:rPr lang="en-US" sz="2400" b="1" dirty="0"/>
              <a:t>Realty Agents</a:t>
            </a:r>
            <a:r>
              <a:rPr lang="en-US" sz="2400" dirty="0"/>
              <a:t> show </a:t>
            </a:r>
            <a:r>
              <a:rPr lang="en-US" sz="2400" b="1" dirty="0"/>
              <a:t>100% good credit</a:t>
            </a:r>
            <a:r>
              <a:rPr lang="en-US" sz="2400" dirty="0"/>
              <a:t>, with no bad credit cases observed.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IT Staff</a:t>
            </a:r>
            <a:r>
              <a:rPr lang="en-US" sz="2400" dirty="0"/>
              <a:t> category has a relatively high bad credit rate (</a:t>
            </a:r>
            <a:r>
              <a:rPr lang="en-US" sz="2400" b="1" dirty="0"/>
              <a:t>5%</a:t>
            </a:r>
            <a:r>
              <a:rPr lang="en-US" sz="2400" dirty="0"/>
              <a:t>), but this result should be interpreted cautiously because it is likely based on a </a:t>
            </a:r>
            <a:r>
              <a:rPr lang="en-US" sz="2400" b="1" dirty="0"/>
              <a:t>very small number of customers</a:t>
            </a:r>
            <a:r>
              <a:rPr lang="en-US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Unknown</a:t>
            </a:r>
            <a:r>
              <a:rPr lang="en-US" sz="2400" dirty="0"/>
              <a:t> occupation category also has a very high proportion of good credit customers (</a:t>
            </a:r>
            <a:r>
              <a:rPr lang="en-US" sz="2400" b="1" dirty="0"/>
              <a:t>99.75%</a:t>
            </a:r>
            <a:r>
              <a:rPr lang="en-US" sz="2400" dirty="0"/>
              <a:t>), similar to most other occupations.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</a:t>
            </a:r>
            <a:r>
              <a:rPr lang="en-US" sz="2400" b="1" dirty="0"/>
              <a:t>occupation type alone does not appear to be a strong predictor of credit risk</a:t>
            </a:r>
            <a:r>
              <a:rPr lang="en-US" sz="2400" dirty="0"/>
              <a:t>, as bad credit cases are extremely rare across all occupation categories.</a:t>
            </a:r>
          </a:p>
        </p:txBody>
      </p:sp>
    </p:spTree>
    <p:extLst>
      <p:ext uri="{BB962C8B-B14F-4D97-AF65-F5344CB8AC3E}">
        <p14:creationId xmlns:p14="http://schemas.microsoft.com/office/powerpoint/2010/main" val="146964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F455B-8B42-C231-E51D-71A20FED0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32" y="118468"/>
            <a:ext cx="10345594" cy="51122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74261A-12A9-4922-1091-5B0F1D71CDD3}"/>
              </a:ext>
            </a:extLst>
          </p:cNvPr>
          <p:cNvSpPr txBox="1"/>
          <p:nvPr/>
        </p:nvSpPr>
        <p:spPr>
          <a:xfrm>
            <a:off x="3155987" y="5348747"/>
            <a:ext cx="5880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9. Credit Risk Percentage by Income Type</a:t>
            </a:r>
          </a:p>
        </p:txBody>
      </p:sp>
    </p:spTree>
    <p:extLst>
      <p:ext uri="{BB962C8B-B14F-4D97-AF65-F5344CB8AC3E}">
        <p14:creationId xmlns:p14="http://schemas.microsoft.com/office/powerpoint/2010/main" val="357240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1B6D52-CDA1-B96E-1F10-09AE4A9255A9}"/>
              </a:ext>
            </a:extLst>
          </p:cNvPr>
          <p:cNvSpPr txBox="1"/>
          <p:nvPr/>
        </p:nvSpPr>
        <p:spPr>
          <a:xfrm>
            <a:off x="353961" y="1169301"/>
            <a:ext cx="115332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All income types have an </a:t>
            </a:r>
            <a:r>
              <a:rPr lang="en-US" sz="2400" b="1" dirty="0"/>
              <a:t>exceptionally high proportion of good credit customers (above 99%)</a:t>
            </a:r>
            <a:r>
              <a:rPr lang="en-US" sz="2400" dirty="0"/>
              <a:t>, indicating a very low overall default rate.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Commercial Associates (0.35%)</a:t>
            </a:r>
            <a:r>
              <a:rPr lang="en-US" sz="2400" dirty="0"/>
              <a:t> and </a:t>
            </a:r>
            <a:r>
              <a:rPr lang="en-US" sz="2400" b="1" dirty="0"/>
              <a:t>Pensioners (0.34%)</a:t>
            </a:r>
            <a:r>
              <a:rPr lang="en-US" sz="2400" dirty="0"/>
              <a:t> have the highest percentages of bad credit customers among the income groups.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Working</a:t>
            </a:r>
            <a:r>
              <a:rPr lang="en-US" sz="2400" dirty="0"/>
              <a:t> customers also exhibit a very low bad credit rate (</a:t>
            </a:r>
            <a:r>
              <a:rPr lang="en-US" sz="2400" b="1" dirty="0"/>
              <a:t>0.28%</a:t>
            </a:r>
            <a:r>
              <a:rPr lang="en-US" sz="2400" dirty="0"/>
              <a:t>), suggesting stable repayment behavior.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State Servants</a:t>
            </a:r>
            <a:r>
              <a:rPr lang="en-US" sz="2400" dirty="0"/>
              <a:t> have one of the lowest bad credit rates (</a:t>
            </a:r>
            <a:r>
              <a:rPr lang="en-US" sz="2400" b="1" dirty="0"/>
              <a:t>0.07%</a:t>
            </a:r>
            <a:r>
              <a:rPr lang="en-US" sz="2400" dirty="0"/>
              <a:t>), indicating excellent credit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Students</a:t>
            </a:r>
            <a:r>
              <a:rPr lang="en-US" sz="2400" dirty="0"/>
              <a:t> show </a:t>
            </a:r>
            <a:r>
              <a:rPr lang="en-US" sz="2400" b="1" dirty="0"/>
              <a:t>100% good credit</a:t>
            </a:r>
            <a:r>
              <a:rPr lang="en-US" sz="2400" dirty="0"/>
              <a:t>, with no bad credit cases observed; however, this result may be due to the very small number of student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Overall, </a:t>
            </a:r>
            <a:r>
              <a:rPr lang="en-US" sz="2400" b="1" dirty="0"/>
              <a:t>income type does not appear to have a strong influence on credit risk</a:t>
            </a:r>
            <a:r>
              <a:rPr lang="en-US" sz="2400" dirty="0"/>
              <a:t>, as good credit customers dominate every income category.</a:t>
            </a:r>
          </a:p>
        </p:txBody>
      </p:sp>
    </p:spTree>
    <p:extLst>
      <p:ext uri="{BB962C8B-B14F-4D97-AF65-F5344CB8AC3E}">
        <p14:creationId xmlns:p14="http://schemas.microsoft.com/office/powerpoint/2010/main" val="290053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CREDITGUARD (CreditGuard is an AI-powered credit card risk analysis system that predicts customer default risk using machine learning and advanced data analytics.)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urkude</dc:creator>
  <cp:lastModifiedBy>abhishek urkude</cp:lastModifiedBy>
  <cp:revision>1</cp:revision>
  <dcterms:created xsi:type="dcterms:W3CDTF">2026-08-03T14:35:29Z</dcterms:created>
  <dcterms:modified xsi:type="dcterms:W3CDTF">2026-08-03T14:54:51Z</dcterms:modified>
</cp:coreProperties>
</file>